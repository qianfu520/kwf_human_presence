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</p:sldMasterIdLst>
  <p:notesMasterIdLst>
    <p:notesMasterId r:id="rId15"/>
  </p:notesMasterIdLst>
  <p:sldIdLst>
    <p:sldId id="256" r:id="rId2"/>
    <p:sldId id="257" r:id="rId3"/>
    <p:sldId id="275" r:id="rId4"/>
    <p:sldId id="292" r:id="rId5"/>
    <p:sldId id="271" r:id="rId6"/>
    <p:sldId id="284" r:id="rId7"/>
    <p:sldId id="285" r:id="rId8"/>
    <p:sldId id="286" r:id="rId9"/>
    <p:sldId id="287" r:id="rId10"/>
    <p:sldId id="288" r:id="rId11"/>
    <p:sldId id="289" r:id="rId12"/>
    <p:sldId id="282" r:id="rId13"/>
    <p:sldId id="283" r:id="rId14"/>
  </p:sldIdLst>
  <p:sldSz cx="9144000" cy="5143500" type="screen16x9"/>
  <p:notesSz cx="6858000" cy="9144000"/>
  <p:embeddedFontLst>
    <p:embeddedFont>
      <p:font typeface="Instrument Sans" pitchFamily="2" charset="0"/>
      <p:regular r:id="rId16"/>
      <p:bold r:id="rId17"/>
      <p:italic r:id="rId18"/>
      <p:boldItalic r:id="rId19"/>
    </p:embeddedFont>
    <p:embeddedFont>
      <p:font typeface="Instrument Sans Medium" pitchFamily="2" charset="0"/>
      <p:regular r:id="rId20"/>
      <p:bold r:id="rId21"/>
      <p:italic r:id="rId22"/>
      <p:boldItalic r:id="rId23"/>
    </p:embeddedFont>
    <p:embeddedFont>
      <p:font typeface="Instrument Sans SemiBold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>
      <p:cViewPr varScale="1">
        <p:scale>
          <a:sx n="151" d="100"/>
          <a:sy n="151" d="100"/>
        </p:scale>
        <p:origin x="5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rate in events vs background</c:v>
                </c:pt>
              </c:strCache>
            </c:strRef>
          </c:tx>
          <c:spPr>
            <a:solidFill>
              <a:srgbClr val="7BA7F0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F28B82"/>
              </a:solidFill>
            </c:spPr>
            <c:extLst>
              <c:ext xmlns:c16="http://schemas.microsoft.com/office/drawing/2014/chart" uri="{C3380CC4-5D6E-409C-BE32-E72D297353CC}">
                <c16:uniqueId val="{00000001-90E8-2844-9ECB-2C8C699D7FBF}"/>
              </c:ext>
            </c:extLst>
          </c:dPt>
          <c:dPt>
            <c:idx val="4"/>
            <c:invertIfNegative val="1"/>
            <c:bubble3D val="0"/>
            <c:spPr>
              <a:solidFill>
                <a:srgbClr val="F28B82"/>
              </a:solidFill>
            </c:spPr>
            <c:extLst>
              <c:ext xmlns:c16="http://schemas.microsoft.com/office/drawing/2014/chart" uri="{C3380CC4-5D6E-409C-BE32-E72D297353CC}">
                <c16:uniqueId val="{00000003-90E8-2844-9ECB-2C8C699D7FBF}"/>
              </c:ext>
            </c:extLst>
          </c:dPt>
          <c:dLbls>
            <c:numFmt formatCode="0.0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02124"/>
                    </a:solidFill>
                    <a:latin typeface="Instrument Sans"/>
                  </a:defRPr>
                </a:pPr>
                <a:endParaRPr lang="en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Vehicle</c:v>
                </c:pt>
                <c:pt idx="1">
                  <c:v>Human presence, on trail</c:v>
                </c:pt>
                <c:pt idx="2">
                  <c:v>Gunshot</c:v>
                </c:pt>
                <c:pt idx="3">
                  <c:v>Chainsaw</c:v>
                </c:pt>
                <c:pt idx="4">
                  <c:v>Human presence, off trail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2.87</c:v>
                </c:pt>
                <c:pt idx="1">
                  <c:v>1.71</c:v>
                </c:pt>
                <c:pt idx="2">
                  <c:v>1.68</c:v>
                </c:pt>
                <c:pt idx="3">
                  <c:v>0.28999999999999998</c:v>
                </c:pt>
                <c:pt idx="4">
                  <c:v>0.1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0E8-2844-9ECB-2C8C699D7F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950">
                <a:solidFill>
                  <a:srgbClr val="202124"/>
                </a:solidFill>
                <a:latin typeface="Instrument Sans"/>
              </a:defRPr>
            </a:pPr>
            <a:endParaRPr lang="en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.4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3b335e5dd81034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h3b335e5dd81034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Weeks 2–3 update on the Acoustic Event Detection (AED) component. Everything here was run on KWF AudioMoth field audio. No retraining; the goal is a validation record we can rely on for integration.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3b335e5dd810341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h3b335e5dd810341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Bottom line first: every check on the model file, preprocessing, API and Digital Twin passes. The one caveat is about what AED is for: it keeps all meaningful audio, including birds, so its recall on human events can't be separated from wildlife. The four parts follow the five questions: what I tested and how, outputs and metrics, issues, what I fixed, and what's next.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3b335e5dd810341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h3b335e5dd810341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Two complementary tests. The harness checks the service clip by clip; the twin run checks AED inside the real system, on full recordings.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Input, model and service as reviewed in the AED repo.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h3b335e5dd8103417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h3b335e5dd8103417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If anyone opens the harness report, it says FAIL (23 pass, 1 fail). That fail is check C5, which is deliberately strict: it is exactly this one-cell difference on 3 quiet clips. Predictions on those clips are identical, so in effect it passes. Say this out loud rather than have it found.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Result: PASS. Every field clip went through /predict; error codes and determinism checked separately.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Weak spot: one quiet off-trail walk, 34 of 99 clips scored as background. It is also the only event the twin missed. If asked: v3 was picked over v4 on this same split, so it is untouched by training but not fully independent.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Ground-truth windows were verified against the labelled clips. Chance recall = how often a random window of the same length would be hit, given the detection rate. Rate vs background = detections per minute inside events divided by outside events.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informative signal is the detection rate inside events versus background. It rose for vehicles (about 2.9×), gunshots and on-trail walks (about 1.7×), and fell below background for chainsaws (about 0.3×) and off-trail walks (about 0.1×). Blue = above background, red = below.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AED model code was changed; the fixes were to my own validation tooling. The tooling fixes matter because each one would have made the results look better than they were.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Colours repeat the words: blue = PASS, yellow = PASS with a note, pink = not established.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h3b335e5dd8103417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h3b335e5dd8103417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These feed the Weeks 4–5 Fix &amp; Standardize phase. Everything is documented in AED_Model/validation/HANDOFF.md, with run folders and how to reproduce each result.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h3b335e5dd8103417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h3b335e5dd8103417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motions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pic>
        <p:nvPicPr>
          <p:cNvPr id="12" name="Google Shape;12;p2" descr="A portrait of a smiling woman in casual attire. "/>
          <p:cNvPicPr preferRelativeResize="0"/>
          <p:nvPr/>
        </p:nvPicPr>
        <p:blipFill rotWithShape="1">
          <a:blip r:embed="rId2">
            <a:alphaModFix/>
          </a:blip>
          <a:srcRect l="26958" r="35833" b="23378"/>
          <a:stretch/>
        </p:blipFill>
        <p:spPr>
          <a:xfrm>
            <a:off x="284700" y="1847700"/>
            <a:ext cx="2055000" cy="2820900"/>
          </a:xfrm>
          <a:prstGeom prst="roundRect">
            <a:avLst>
              <a:gd name="adj" fmla="val 15597"/>
            </a:avLst>
          </a:prstGeom>
          <a:noFill/>
          <a:ln>
            <a:noFill/>
          </a:ln>
        </p:spPr>
      </p:pic>
      <p:pic>
        <p:nvPicPr>
          <p:cNvPr id="13" name="Google Shape;13;p2" descr="A confident man stands with his arms crossed in front of a white background. "/>
          <p:cNvPicPr preferRelativeResize="0"/>
          <p:nvPr/>
        </p:nvPicPr>
        <p:blipFill rotWithShape="1">
          <a:blip r:embed="rId3">
            <a:alphaModFix/>
          </a:blip>
          <a:srcRect l="28621" r="23422" b="1225"/>
          <a:stretch/>
        </p:blipFill>
        <p:spPr>
          <a:xfrm>
            <a:off x="4629476" y="1847700"/>
            <a:ext cx="2055000" cy="2820900"/>
          </a:xfrm>
          <a:prstGeom prst="roundRect">
            <a:avLst>
              <a:gd name="adj" fmla="val 15616"/>
            </a:avLst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3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4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5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6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7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8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BLANK_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25" name="Google Shape;25;p3"/>
            <p:cNvPicPr preferRelativeResize="0"/>
            <p:nvPr/>
          </p:nvPicPr>
          <p:blipFill rotWithShape="1">
            <a:blip r:embed="rId2">
              <a:alphaModFix/>
            </a:blip>
            <a:srcRect b="18778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 rotWithShape="1">
            <a:blip r:embed="rId3">
              <a:alphaModFix/>
            </a:blip>
            <a:srcRect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BLANK_2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" name="Google Shape;30;p4"/>
          <p:cNvSpPr>
            <a:spLocks noGrp="1"/>
          </p:cNvSpPr>
          <p:nvPr>
            <p:ph type="pic" idx="2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1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3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35" name="Google Shape;35;p4"/>
            <p:cNvPicPr preferRelativeResize="0"/>
            <p:nvPr/>
          </p:nvPicPr>
          <p:blipFill rotWithShape="1">
            <a:blip r:embed="rId2">
              <a:alphaModFix/>
            </a:blip>
            <a:srcRect b="18778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 rotWithShape="1">
            <a:blip r:embed="rId3">
              <a:alphaModFix/>
            </a:blip>
            <a:srcRect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4 elements">
  <p:cSld name="BLANK_1_1_1_1_1_1_1_1_1_1_1_2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t="12335" r="33444" b="3141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3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4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5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6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7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8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9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1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14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5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6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17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6 elements">
  <p:cSld name="BLANK_1_1_1_1_1_1_1_1_1_1_1_2_1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t="12335" r="33444" b="3141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spcFirstLastPara="1" wrap="square" lIns="137150" tIns="91425" rIns="90250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4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5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6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ubTitle" idx="7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8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9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13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14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subTitle" idx="15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subTitle" idx="16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17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subTitle" idx="18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subTitle" idx="19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subTitle" idx="20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subTitle" idx="21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subTitle" idx="22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subTitle" idx="23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">
  <p:cSld name="BLANK_1_1_1_1_1_1_1_1_1_1_1_2_1_1">
    <p:bg>
      <p:bgPr>
        <a:solidFill>
          <a:schemeClr val="dk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7"/>
          <p:cNvSpPr>
            <a:spLocks noGrp="1"/>
          </p:cNvSpPr>
          <p:nvPr>
            <p:ph type="pic" idx="2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" name="Google Shape;84;p7"/>
          <p:cNvSpPr>
            <a:spLocks noGrp="1"/>
          </p:cNvSpPr>
          <p:nvPr>
            <p:ph type="pic" idx="3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7"/>
          <p:cNvSpPr>
            <a:spLocks noGrp="1"/>
          </p:cNvSpPr>
          <p:nvPr>
            <p:ph type="pic" idx="4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7"/>
          <p:cNvSpPr>
            <a:spLocks noGrp="1"/>
          </p:cNvSpPr>
          <p:nvPr>
            <p:ph type="pic" idx="5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7"/>
          <p:cNvSpPr>
            <a:spLocks noGrp="1"/>
          </p:cNvSpPr>
          <p:nvPr>
            <p:ph type="pic" idx="6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7"/>
          <p:cNvSpPr>
            <a:spLocks noGrp="1"/>
          </p:cNvSpPr>
          <p:nvPr>
            <p:ph type="pic" idx="7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7"/>
          <p:cNvSpPr txBox="1">
            <a:spLocks noGrp="1"/>
          </p:cNvSpPr>
          <p:nvPr>
            <p:ph type="body" idx="1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8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body" idx="9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body" idx="13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body" idx="14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15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subTitle" idx="16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subTitle" idx="17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 2">
  <p:cSld name="BLANK_1_1_1_1_1_1_1_1_1_1_1_2_1_1_1">
    <p:bg>
      <p:bgPr>
        <a:solidFill>
          <a:schemeClr val="lt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2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3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body" idx="4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body" idx="5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body" idx="6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subTitle" idx="7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7" name="Google Shape;107;p8"/>
          <p:cNvSpPr txBox="1">
            <a:spLocks noGrp="1"/>
          </p:cNvSpPr>
          <p:nvPr>
            <p:ph type="subTitle" idx="8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8" name="Google Shape;108;p8"/>
          <p:cNvSpPr>
            <a:spLocks noGrp="1"/>
          </p:cNvSpPr>
          <p:nvPr>
            <p:ph type="pic" idx="9"/>
          </p:nvPr>
        </p:nvSpPr>
        <p:spPr>
          <a:xfrm>
            <a:off x="282017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8"/>
          <p:cNvSpPr>
            <a:spLocks noGrp="1"/>
          </p:cNvSpPr>
          <p:nvPr>
            <p:ph type="pic" idx="13"/>
          </p:nvPr>
        </p:nvSpPr>
        <p:spPr>
          <a:xfrm>
            <a:off x="1735443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0" name="Google Shape;110;p8"/>
          <p:cNvSpPr>
            <a:spLocks noGrp="1"/>
          </p:cNvSpPr>
          <p:nvPr>
            <p:ph type="pic" idx="14"/>
          </p:nvPr>
        </p:nvSpPr>
        <p:spPr>
          <a:xfrm>
            <a:off x="3188870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1" name="Google Shape;111;p8"/>
          <p:cNvSpPr>
            <a:spLocks noGrp="1"/>
          </p:cNvSpPr>
          <p:nvPr>
            <p:ph type="pic" idx="15"/>
          </p:nvPr>
        </p:nvSpPr>
        <p:spPr>
          <a:xfrm>
            <a:off x="4642297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" name="Google Shape;112;p8"/>
          <p:cNvSpPr>
            <a:spLocks noGrp="1"/>
          </p:cNvSpPr>
          <p:nvPr>
            <p:ph type="pic" idx="16"/>
          </p:nvPr>
        </p:nvSpPr>
        <p:spPr>
          <a:xfrm>
            <a:off x="6095723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3" name="Google Shape;113;p8"/>
          <p:cNvSpPr>
            <a:spLocks noGrp="1"/>
          </p:cNvSpPr>
          <p:nvPr>
            <p:ph type="pic" idx="17"/>
          </p:nvPr>
        </p:nvSpPr>
        <p:spPr>
          <a:xfrm>
            <a:off x="7549150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>
            <a:spLocks noGrp="1"/>
          </p:cNvSpPr>
          <p:nvPr>
            <p:ph type="body" idx="18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body" idx="19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20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body" idx="21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body" idx="22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8"/>
          <p:cNvSpPr txBox="1">
            <a:spLocks noGrp="1"/>
          </p:cNvSpPr>
          <p:nvPr>
            <p:ph type="body" idx="23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body" idx="3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marL="914400" lvl="1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marL="1371600" lvl="2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marL="1828800" lvl="3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marL="2286000" lvl="4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marL="2743200" lvl="5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marL="3200400" lvl="6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marL="3657600" lvl="7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marL="4114800" lvl="8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27" name="Google Shape;127;p10"/>
          <p:cNvSpPr>
            <a:spLocks noGrp="1"/>
          </p:cNvSpPr>
          <p:nvPr>
            <p:ph type="pic" idx="2"/>
          </p:nvPr>
        </p:nvSpPr>
        <p:spPr>
          <a:xfrm>
            <a:off x="4629600" y="474750"/>
            <a:ext cx="4227300" cy="4194000"/>
          </a:xfrm>
          <a:prstGeom prst="roundRect">
            <a:avLst>
              <a:gd name="adj" fmla="val 5294"/>
            </a:avLst>
          </a:prstGeom>
          <a:noFill/>
          <a:ln>
            <a:noFill/>
          </a:ln>
        </p:spPr>
      </p:sp>
      <p:sp>
        <p:nvSpPr>
          <p:cNvPr id="128" name="Google Shape;128;p10"/>
          <p:cNvSpPr txBox="1">
            <a:spLocks noGrp="1"/>
          </p:cNvSpPr>
          <p:nvPr>
            <p:ph type="body" idx="1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9" name="Google Shape;129;p10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30" name="Google Shape;130;p10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31" name="Google Shape;131;p10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>
            <a:spLocks noGrp="1"/>
          </p:cNvSpPr>
          <p:nvPr>
            <p:ph type="pic" idx="2"/>
          </p:nvPr>
        </p:nvSpPr>
        <p:spPr>
          <a:xfrm>
            <a:off x="4629600" y="474750"/>
            <a:ext cx="4227300" cy="4194000"/>
          </a:xfrm>
          <a:prstGeom prst="roundRect">
            <a:avLst>
              <a:gd name="adj" fmla="val 10510"/>
            </a:avLst>
          </a:prstGeom>
          <a:noFill/>
          <a:ln>
            <a:noFill/>
          </a:ln>
        </p:spPr>
      </p:sp>
      <p:sp>
        <p:nvSpPr>
          <p:cNvPr id="134" name="Google Shape;134;p11"/>
          <p:cNvSpPr txBox="1">
            <a:spLocks noGrp="1"/>
          </p:cNvSpPr>
          <p:nvPr>
            <p:ph type="body" idx="1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37" name="Google Shape;137;p11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3">
  <p:cSld name="BLANK_1_1_1_2_3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>
            <a:spLocks noGrp="1"/>
          </p:cNvSpPr>
          <p:nvPr>
            <p:ph type="pic" idx="2"/>
          </p:nvPr>
        </p:nvSpPr>
        <p:spPr>
          <a:xfrm>
            <a:off x="4629600" y="474750"/>
            <a:ext cx="4227300" cy="4194000"/>
          </a:xfrm>
          <a:prstGeom prst="roundRect">
            <a:avLst>
              <a:gd name="adj" fmla="val 10640"/>
            </a:avLst>
          </a:prstGeom>
          <a:noFill/>
          <a:ln>
            <a:noFill/>
          </a:ln>
        </p:spPr>
      </p:sp>
      <p:sp>
        <p:nvSpPr>
          <p:cNvPr id="141" name="Google Shape;141;p12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43" name="Google Shape;143;p12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body" idx="4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9" name="Google Shape;149;p13"/>
          <p:cNvSpPr>
            <a:spLocks noGrp="1"/>
          </p:cNvSpPr>
          <p:nvPr>
            <p:ph type="pic" idx="2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0" name="Google Shape;150;p13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body" idx="4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title" idx="5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locks- two ideas">
  <p:cSld name="CUSTOM_5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59" name="Google Shape;159;p14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">
  <p:cSld name="CUSTOM_6">
    <p:bg>
      <p:bgPr>
        <a:solidFill>
          <a:schemeClr val="dk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>
            <a:spLocks noGrp="1"/>
          </p:cNvSpPr>
          <p:nvPr>
            <p:ph type="body" idx="1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15"/>
          <p:cNvSpPr>
            <a:spLocks noGrp="1"/>
          </p:cNvSpPr>
          <p:nvPr>
            <p:ph type="pic" idx="2"/>
          </p:nvPr>
        </p:nvSpPr>
        <p:spPr>
          <a:xfrm>
            <a:off x="4629600" y="2630549"/>
            <a:ext cx="4227300" cy="2038200"/>
          </a:xfrm>
          <a:prstGeom prst="roundRect">
            <a:avLst>
              <a:gd name="adj" fmla="val 9982"/>
            </a:avLst>
          </a:prstGeom>
          <a:noFill/>
          <a:ln>
            <a:noFill/>
          </a:ln>
        </p:spPr>
      </p:sp>
      <p:sp>
        <p:nvSpPr>
          <p:cNvPr id="163" name="Google Shape;163;p15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rious boxes">
  <p:cSld name="CUSTOM_6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>
            <a:spLocks noGrp="1"/>
          </p:cNvSpPr>
          <p:nvPr>
            <p:ph type="pic" idx="2"/>
          </p:nvPr>
        </p:nvSpPr>
        <p:spPr>
          <a:xfrm>
            <a:off x="4630975" y="1365900"/>
            <a:ext cx="2055000" cy="3302700"/>
          </a:xfrm>
          <a:prstGeom prst="roundRect">
            <a:avLst>
              <a:gd name="adj" fmla="val 11973"/>
            </a:avLst>
          </a:prstGeom>
          <a:noFill/>
          <a:ln>
            <a:noFill/>
          </a:ln>
        </p:spPr>
      </p:sp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body" idx="3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body" idx="4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spcFirstLastPara="1" wrap="square" lIns="182875" tIns="0" rIns="0" bIns="0" anchor="t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body" idx="5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6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subTitle" idx="7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subTitle" idx="8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spcFirstLastPara="1" wrap="square" lIns="182875" tIns="18287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9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9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ALT 3">
  <p:cSld name="BLANK_1_1_1_1_1_1_1_1_1_1_1_1_1_1_3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>
            <a:spLocks noGrp="1"/>
          </p:cNvSpPr>
          <p:nvPr>
            <p:ph type="pic" idx="2"/>
          </p:nvPr>
        </p:nvSpPr>
        <p:spPr>
          <a:xfrm>
            <a:off x="6802025" y="1372800"/>
            <a:ext cx="2058600" cy="3296700"/>
          </a:xfrm>
          <a:prstGeom prst="roundRect">
            <a:avLst>
              <a:gd name="adj" fmla="val 11530"/>
            </a:avLst>
          </a:prstGeom>
          <a:noFill/>
          <a:ln>
            <a:noFill/>
          </a:ln>
        </p:spPr>
      </p:sp>
      <p:sp>
        <p:nvSpPr>
          <p:cNvPr id="180" name="Google Shape;180;p17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4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 idx="5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6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spcFirstLastPara="1" wrap="square" lIns="182875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body" idx="7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title" idx="8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title" idx="9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spcFirstLastPara="1" wrap="square" lIns="182875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13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title" idx="14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title" idx="15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spcFirstLastPara="1" wrap="square" lIns="182875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1">
  <p:cSld name="BLANK_1_1_1_1_2_2_3">
    <p:bg>
      <p:bgPr>
        <a:solidFill>
          <a:schemeClr val="lt2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3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subTitle" idx="4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subTitle" idx="5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subTitle" idx="6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body" idx="7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subTitle" idx="8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subTitle" idx="9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body" idx="13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subTitle" idx="14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ubTitle" idx="15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body" idx="16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17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18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2">
  <p:cSld name="BLANK_1_1_1_1_2_2_3_1">
    <p:bg>
      <p:bgPr>
        <a:solidFill>
          <a:schemeClr val="lt2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body" idx="3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4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5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body" idx="6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7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8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body" idx="9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13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subTitle" idx="14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cxnSp>
        <p:nvCxnSpPr>
          <p:cNvPr id="224" name="Google Shape;224;p19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19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3">
  <p:cSld name="BLANK_1_1_1_1_2_2_3_1_1">
    <p:bg>
      <p:bgPr>
        <a:solidFill>
          <a:schemeClr val="lt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28" name="Google Shape;228;p20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29" name="Google Shape;229;p20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subTitle" idx="3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subTitle" idx="4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subTitle" idx="5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6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subTitle" idx="7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8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subTitle" idx="9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subTitle" idx="13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subTitle" idx="14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subTitle" idx="15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subTitle" idx="16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subTitle" idx="17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subTitle" idx="18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subTitle" idx="19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subTitle" idx="20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subTitle" idx="21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subTitle" idx="22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subTitle" idx="23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9" name="Google Shape;249;p20"/>
          <p:cNvSpPr txBox="1">
            <a:spLocks noGrp="1"/>
          </p:cNvSpPr>
          <p:nvPr>
            <p:ph type="subTitle" idx="24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>
            <a:spLocks noGrp="1"/>
          </p:cNvSpPr>
          <p:nvPr>
            <p:ph type="pic" idx="2"/>
          </p:nvPr>
        </p:nvSpPr>
        <p:spPr>
          <a:xfrm>
            <a:off x="284700" y="1440150"/>
            <a:ext cx="605100" cy="1413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252" name="Google Shape;252;p21"/>
          <p:cNvSpPr>
            <a:spLocks noGrp="1"/>
          </p:cNvSpPr>
          <p:nvPr>
            <p:ph type="pic" idx="3"/>
          </p:nvPr>
        </p:nvSpPr>
        <p:spPr>
          <a:xfrm>
            <a:off x="1002300" y="1440150"/>
            <a:ext cx="2055000" cy="1413900"/>
          </a:xfrm>
          <a:prstGeom prst="roundRect">
            <a:avLst>
              <a:gd name="adj" fmla="val 16960"/>
            </a:avLst>
          </a:prstGeom>
          <a:noFill/>
          <a:ln>
            <a:noFill/>
          </a:ln>
        </p:spPr>
      </p:sp>
      <p:sp>
        <p:nvSpPr>
          <p:cNvPr id="253" name="Google Shape;253;p21"/>
          <p:cNvSpPr>
            <a:spLocks noGrp="1"/>
          </p:cNvSpPr>
          <p:nvPr>
            <p:ph type="pic" idx="4"/>
          </p:nvPr>
        </p:nvSpPr>
        <p:spPr>
          <a:xfrm>
            <a:off x="3185700" y="1440150"/>
            <a:ext cx="605100" cy="1413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254" name="Google Shape;254;p21"/>
          <p:cNvSpPr>
            <a:spLocks noGrp="1"/>
          </p:cNvSpPr>
          <p:nvPr>
            <p:ph type="pic" idx="5"/>
          </p:nvPr>
        </p:nvSpPr>
        <p:spPr>
          <a:xfrm>
            <a:off x="3903300" y="1440150"/>
            <a:ext cx="2055000" cy="1413900"/>
          </a:xfrm>
          <a:prstGeom prst="roundRect">
            <a:avLst>
              <a:gd name="adj" fmla="val 16960"/>
            </a:avLst>
          </a:prstGeom>
          <a:noFill/>
          <a:ln>
            <a:noFill/>
          </a:ln>
        </p:spPr>
      </p:sp>
      <p:sp>
        <p:nvSpPr>
          <p:cNvPr id="255" name="Google Shape;255;p21"/>
          <p:cNvSpPr>
            <a:spLocks noGrp="1"/>
          </p:cNvSpPr>
          <p:nvPr>
            <p:ph type="pic" idx="6"/>
          </p:nvPr>
        </p:nvSpPr>
        <p:spPr>
          <a:xfrm>
            <a:off x="6086700" y="1440150"/>
            <a:ext cx="605100" cy="1413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256" name="Google Shape;256;p21"/>
          <p:cNvSpPr>
            <a:spLocks noGrp="1"/>
          </p:cNvSpPr>
          <p:nvPr>
            <p:ph type="pic" idx="7"/>
          </p:nvPr>
        </p:nvSpPr>
        <p:spPr>
          <a:xfrm>
            <a:off x="6804300" y="1440150"/>
            <a:ext cx="2055000" cy="1413900"/>
          </a:xfrm>
          <a:prstGeom prst="roundRect">
            <a:avLst>
              <a:gd name="adj" fmla="val 16960"/>
            </a:avLst>
          </a:prstGeom>
          <a:noFill/>
          <a:ln>
            <a:noFill/>
          </a:ln>
        </p:spPr>
      </p:sp>
      <p:sp>
        <p:nvSpPr>
          <p:cNvPr id="257" name="Google Shape;257;p21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body" idx="1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ubTitle" idx="8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9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1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body" idx="14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15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body" idx="16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17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>
            <a:spLocks noGrp="1"/>
          </p:cNvSpPr>
          <p:nvPr>
            <p:ph type="pic" idx="2"/>
          </p:nvPr>
        </p:nvSpPr>
        <p:spPr>
          <a:xfrm>
            <a:off x="284700" y="2901150"/>
            <a:ext cx="2772600" cy="1770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9" name="Google Shape;269;p22"/>
          <p:cNvSpPr>
            <a:spLocks noGrp="1"/>
          </p:cNvSpPr>
          <p:nvPr>
            <p:ph type="pic" idx="3"/>
          </p:nvPr>
        </p:nvSpPr>
        <p:spPr>
          <a:xfrm>
            <a:off x="3185800" y="2901150"/>
            <a:ext cx="2772600" cy="1770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70" name="Google Shape;270;p22"/>
          <p:cNvSpPr>
            <a:spLocks noGrp="1"/>
          </p:cNvSpPr>
          <p:nvPr>
            <p:ph type="pic" idx="4"/>
          </p:nvPr>
        </p:nvSpPr>
        <p:spPr>
          <a:xfrm>
            <a:off x="3185800" y="1440150"/>
            <a:ext cx="2772600" cy="1347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71" name="Google Shape;271;p22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72" name="Google Shape;272;p22"/>
          <p:cNvSpPr txBox="1">
            <a:spLocks noGrp="1"/>
          </p:cNvSpPr>
          <p:nvPr>
            <p:ph type="subTitle" idx="5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73" name="Google Shape;273;p22"/>
          <p:cNvSpPr txBox="1">
            <a:spLocks noGrp="1"/>
          </p:cNvSpPr>
          <p:nvPr>
            <p:ph type="body" idx="6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74" name="Google Shape;274;p22"/>
          <p:cNvSpPr txBox="1">
            <a:spLocks noGrp="1"/>
          </p:cNvSpPr>
          <p:nvPr>
            <p:ph type="body" idx="7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75" name="Google Shape;275;p22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76" name="Google Shape;276;p22"/>
          <p:cNvSpPr txBox="1">
            <a:spLocks noGrp="1"/>
          </p:cNvSpPr>
          <p:nvPr>
            <p:ph type="subTitle" idx="8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/ left box">
  <p:cSld name="BLANK_1_1_1_1_1_1_1_1_1_1_1_1_1_1_1_1_1_1_1_1_2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>
            <a:spLocks noGrp="1"/>
          </p:cNvSpPr>
          <p:nvPr>
            <p:ph type="pic" idx="2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3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80" name="Google Shape;280;p23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81" name="Google Shape;281;p23"/>
          <p:cNvSpPr txBox="1">
            <a:spLocks noGrp="1"/>
          </p:cNvSpPr>
          <p:nvPr>
            <p:ph type="body" idx="4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82" name="Google Shape;282;p23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283" name="Google Shape;283;p23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/ right box ">
  <p:cSld name="BLANK_1_1_1_1_1_1_1_1_1_1_1_1_1_1_1_1_1_1_1_1_2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>
            <a:spLocks noGrp="1"/>
          </p:cNvSpPr>
          <p:nvPr>
            <p:ph type="pic" idx="2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24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body" idx="4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89" name="Google Shape;289;p24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290" name="Google Shape;290;p24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25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94" name="Google Shape;294;p25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95" name="Google Shape;295;p25"/>
          <p:cNvSpPr txBox="1">
            <a:spLocks noGrp="1"/>
          </p:cNvSpPr>
          <p:nvPr>
            <p:ph type="body" idx="3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96" name="Google Shape;296;p25"/>
          <p:cNvSpPr>
            <a:spLocks noGrp="1"/>
          </p:cNvSpPr>
          <p:nvPr>
            <p:ph type="pic" idx="4"/>
          </p:nvPr>
        </p:nvSpPr>
        <p:spPr>
          <a:xfrm>
            <a:off x="4623425" y="672675"/>
            <a:ext cx="4247100" cy="1839300"/>
          </a:xfrm>
          <a:prstGeom prst="roundRect">
            <a:avLst>
              <a:gd name="adj" fmla="val 14674"/>
            </a:avLst>
          </a:prstGeom>
          <a:noFill/>
          <a:ln>
            <a:noFill/>
          </a:ln>
        </p:spPr>
      </p:sp>
      <p:sp>
        <p:nvSpPr>
          <p:cNvPr id="297" name="Google Shape;297;p25"/>
          <p:cNvSpPr>
            <a:spLocks noGrp="1"/>
          </p:cNvSpPr>
          <p:nvPr>
            <p:ph type="pic" idx="5"/>
          </p:nvPr>
        </p:nvSpPr>
        <p:spPr>
          <a:xfrm>
            <a:off x="4623425" y="2629425"/>
            <a:ext cx="4227600" cy="1074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298" name="Google Shape;298;p25"/>
          <p:cNvSpPr txBox="1">
            <a:spLocks noGrp="1"/>
          </p:cNvSpPr>
          <p:nvPr>
            <p:ph type="body" idx="6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99" name="Google Shape;299;p25"/>
          <p:cNvSpPr txBox="1">
            <a:spLocks noGrp="1"/>
          </p:cNvSpPr>
          <p:nvPr>
            <p:ph type="body" idx="7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300" name="Google Shape;300;p25"/>
          <p:cNvSpPr txBox="1">
            <a:spLocks noGrp="1"/>
          </p:cNvSpPr>
          <p:nvPr>
            <p:ph type="body" idx="8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301" name="Google Shape;301;p25"/>
          <p:cNvSpPr txBox="1">
            <a:spLocks noGrp="1"/>
          </p:cNvSpPr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302" name="Google Shape;302;p25"/>
          <p:cNvSpPr txBox="1">
            <a:spLocks noGrp="1"/>
          </p:cNvSpPr>
          <p:nvPr>
            <p:ph type="subTitle" idx="9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subTitle" idx="13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details">
  <p:cSld name="CUSTOM_8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name="adj" fmla="val 552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6" name="Google Shape;306;p26"/>
          <p:cNvSpPr txBox="1">
            <a:spLocks noGrp="1"/>
          </p:cNvSpPr>
          <p:nvPr>
            <p:ph type="body" idx="1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6"/>
          <p:cNvSpPr txBox="1">
            <a:spLocks noGrp="1"/>
          </p:cNvSpPr>
          <p:nvPr>
            <p:ph type="body" idx="2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6"/>
          <p:cNvSpPr>
            <a:spLocks noGrp="1"/>
          </p:cNvSpPr>
          <p:nvPr>
            <p:ph type="pic" idx="3"/>
          </p:nvPr>
        </p:nvSpPr>
        <p:spPr>
          <a:xfrm>
            <a:off x="6806700" y="1335775"/>
            <a:ext cx="1821600" cy="2563500"/>
          </a:xfrm>
          <a:prstGeom prst="roundRect">
            <a:avLst>
              <a:gd name="adj" fmla="val 13098"/>
            </a:avLst>
          </a:prstGeom>
          <a:noFill/>
          <a:ln>
            <a:noFill/>
          </a:ln>
        </p:spPr>
      </p:sp>
      <p:sp>
        <p:nvSpPr>
          <p:cNvPr id="309" name="Google Shape;309;p26"/>
          <p:cNvSpPr txBox="1">
            <a:spLocks noGrp="1"/>
          </p:cNvSpPr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310" name="Google Shape;310;p26"/>
          <p:cNvSpPr txBox="1">
            <a:spLocks noGrp="1"/>
          </p:cNvSpPr>
          <p:nvPr>
            <p:ph type="subTitle" idx="4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11" name="Google Shape;311;p26"/>
          <p:cNvSpPr txBox="1">
            <a:spLocks noGrp="1"/>
          </p:cNvSpPr>
          <p:nvPr>
            <p:ph type="subTitle" idx="5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6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26"/>
          <p:cNvSpPr txBox="1">
            <a:spLocks noGrp="1"/>
          </p:cNvSpPr>
          <p:nvPr>
            <p:ph type="subTitle" idx="7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4" name="Google Shape;314;p2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details 2">
  <p:cSld name="CUSTOM_8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name="adj" fmla="val 552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17" name="Google Shape;317;p27"/>
          <p:cNvSpPr txBox="1">
            <a:spLocks noGrp="1"/>
          </p:cNvSpPr>
          <p:nvPr>
            <p:ph type="body" idx="1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7"/>
          <p:cNvSpPr txBox="1">
            <a:spLocks noGrp="1"/>
          </p:cNvSpPr>
          <p:nvPr>
            <p:ph type="body" idx="2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320" name="Google Shape;320;p27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21" name="Google Shape;321;p27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22" name="Google Shape;322;p27"/>
          <p:cNvSpPr txBox="1">
            <a:spLocks noGrp="1"/>
          </p:cNvSpPr>
          <p:nvPr>
            <p:ph type="body" idx="5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7"/>
          <p:cNvSpPr txBox="1">
            <a:spLocks noGrp="1"/>
          </p:cNvSpPr>
          <p:nvPr>
            <p:ph type="subTitle" idx="6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7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 and image">
  <p:cSld name="CUSTOM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name="adj" fmla="val 733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7" name="Google Shape;327;p28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name="adj" fmla="val 407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2" name="Google Shape;332;p28"/>
          <p:cNvSpPr txBox="1">
            <a:spLocks noGrp="1"/>
          </p:cNvSpPr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33" name="Google Shape;333;p28"/>
          <p:cNvSpPr txBox="1">
            <a:spLocks noGrp="1"/>
          </p:cNvSpPr>
          <p:nvPr>
            <p:ph type="body" idx="1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subTitle" idx="2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35" name="Google Shape;335;p28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36" name="Google Shape;336;p28"/>
          <p:cNvSpPr>
            <a:spLocks noGrp="1"/>
          </p:cNvSpPr>
          <p:nvPr>
            <p:ph type="pic" idx="4"/>
          </p:nvPr>
        </p:nvSpPr>
        <p:spPr>
          <a:xfrm>
            <a:off x="6084175" y="474750"/>
            <a:ext cx="2771400" cy="1458300"/>
          </a:xfrm>
          <a:prstGeom prst="roundRect">
            <a:avLst>
              <a:gd name="adj" fmla="val 1104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 4 elements 1">
  <p:cSld name="CUSTOM_10_3">
    <p:bg>
      <p:bgPr>
        <a:solidFill>
          <a:schemeClr val="dk2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9"/>
          <p:cNvPicPr preferRelativeResize="0"/>
          <p:nvPr/>
        </p:nvPicPr>
        <p:blipFill rotWithShape="1">
          <a:blip r:embed="rId2">
            <a:alphaModFix/>
          </a:blip>
          <a:srcRect t="12335" r="33444" b="3141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40" name="Google Shape;340;p29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41" name="Google Shape;341;p29"/>
          <p:cNvSpPr txBox="1">
            <a:spLocks noGrp="1"/>
          </p:cNvSpPr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42" name="Google Shape;342;p29"/>
          <p:cNvSpPr txBox="1">
            <a:spLocks noGrp="1"/>
          </p:cNvSpPr>
          <p:nvPr>
            <p:ph type="subTitle" idx="3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29"/>
          <p:cNvSpPr txBox="1">
            <a:spLocks noGrp="1"/>
          </p:cNvSpPr>
          <p:nvPr>
            <p:ph type="subTitle" idx="4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44" name="Google Shape;344;p29"/>
          <p:cNvSpPr txBox="1">
            <a:spLocks noGrp="1"/>
          </p:cNvSpPr>
          <p:nvPr>
            <p:ph type="subTitle" idx="5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45" name="Google Shape;345;p29"/>
          <p:cNvSpPr txBox="1">
            <a:spLocks noGrp="1"/>
          </p:cNvSpPr>
          <p:nvPr>
            <p:ph type="subTitle" idx="6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29"/>
          <p:cNvSpPr txBox="1">
            <a:spLocks noGrp="1"/>
          </p:cNvSpPr>
          <p:nvPr>
            <p:ph type="subTitle" idx="7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47" name="Google Shape;347;p29"/>
          <p:cNvSpPr txBox="1">
            <a:spLocks noGrp="1"/>
          </p:cNvSpPr>
          <p:nvPr>
            <p:ph type="subTitle" idx="8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48" name="Google Shape;348;p29"/>
          <p:cNvSpPr txBox="1">
            <a:spLocks noGrp="1"/>
          </p:cNvSpPr>
          <p:nvPr>
            <p:ph type="subTitle" idx="9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29"/>
          <p:cNvSpPr txBox="1">
            <a:spLocks noGrp="1"/>
          </p:cNvSpPr>
          <p:nvPr>
            <p:ph type="subTitle" idx="13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50" name="Google Shape;350;p29"/>
          <p:cNvSpPr txBox="1">
            <a:spLocks noGrp="1"/>
          </p:cNvSpPr>
          <p:nvPr>
            <p:ph type="subTitle" idx="14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51" name="Google Shape;351;p29"/>
          <p:cNvSpPr txBox="1">
            <a:spLocks noGrp="1"/>
          </p:cNvSpPr>
          <p:nvPr>
            <p:ph type="subTitle" idx="15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29"/>
          <p:cNvSpPr txBox="1">
            <a:spLocks noGrp="1"/>
          </p:cNvSpPr>
          <p:nvPr>
            <p:ph type="subTitle" idx="16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17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54" name="Google Shape;354;p29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357" name="Google Shape;35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2" name="Google Shape;36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5" name="Google Shape;36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6" name="Google Shape;366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1" name="Google Shape;371;p3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7" name="Google Shape;377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82" name="Google Shape;382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4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" name="Google Shape;387;p4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8" name="Google Shape;388;p4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9" name="Google Shape;389;p4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0" name="Google Shape;390;p4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1" name="Google Shape;391;p4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4" name="Google Shape;394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95" name="Google Shape;395;p4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98" name="Google Shape;398;p4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99" name="Google Shape;399;p4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0" name="Google Shape;400;p4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1" name="Google Shape;401;p4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4" name="Google Shape;404;p4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5" name="Google Shape;405;p4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06" name="Google Shape;406;p4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7" name="Google Shape;407;p4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8" name="Google Shape;408;p4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9" name="Google Shape;409;p4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4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4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4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5" name="Google Shape;415;p4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16" name="Google Shape;416;p4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7" name="Google Shape;417;p4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8" name="Google Shape;418;p4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9" name="Google Shape;419;p4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4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5" name="Google Shape;425;p4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8" name="Google Shape;42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9" name="Google Shape;429;p4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0" name="Google Shape;430;p4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3" name="Google Shape;433;p4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4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6" name="Google Shape;436;p4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4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8" name="Google Shape;438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9" name="Google Shape;439;p4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0" name="Google Shape;440;p4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1" name="Google Shape;441;p4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2" name="Google Shape;452;p5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5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5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"/>
          <p:cNvSpPr/>
          <p:nvPr/>
        </p:nvSpPr>
        <p:spPr>
          <a:xfrm>
            <a:off x="284700" y="4434600"/>
            <a:ext cx="2103120" cy="422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Cheryl Yan · KWF Jacamar</a:t>
            </a:r>
          </a:p>
        </p:txBody>
      </p:sp>
      <p:sp>
        <p:nvSpPr>
          <p:cNvPr id="460" name="Google Shape;460;p51"/>
          <p:cNvSpPr/>
          <p:nvPr/>
        </p:nvSpPr>
        <p:spPr>
          <a:xfrm>
            <a:off x="2423160" y="4434600"/>
            <a:ext cx="1293600" cy="422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October 16, 2026</a:t>
            </a:r>
          </a:p>
        </p:txBody>
      </p:sp>
      <p:sp>
        <p:nvSpPr>
          <p:cNvPr id="461" name="Google Shape;461;p51"/>
          <p:cNvSpPr txBox="1">
            <a:spLocks noGrp="1"/>
          </p:cNvSpPr>
          <p:nvPr>
            <p:ph type="title"/>
          </p:nvPr>
        </p:nvSpPr>
        <p:spPr>
          <a:xfrm>
            <a:off x="291800" y="465200"/>
            <a:ext cx="5666400" cy="15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AED validation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</a:t>
            </a:r>
          </a:p>
        </p:txBody>
      </p:sp>
      <p:sp>
        <p:nvSpPr>
          <p:cNvPr id="462" name="Subtitle"/>
          <p:cNvSpPr txBox="1"/>
          <p:nvPr/>
        </p:nvSpPr>
        <p:spPr>
          <a:xfrm>
            <a:off x="292608" y="22402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5A5A5A"/>
                </a:solidFill>
                <a:latin typeface="Instrument Sans"/>
              </a:rPr>
              <a:t>Does AED work correctly as a deployable service and inside the Digital Twin, on KWF field audio?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/>
          <p:nvPr/>
        </p:nvSpPr>
        <p:spPr>
          <a:xfrm>
            <a:off x="284700" y="2037676"/>
            <a:ext cx="2055000" cy="2632200"/>
          </a:xfrm>
          <a:prstGeom prst="roundRect">
            <a:avLst>
              <a:gd name="adj" fmla="val 113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7" name="Google Shape;467;p52"/>
          <p:cNvSpPr/>
          <p:nvPr/>
        </p:nvSpPr>
        <p:spPr>
          <a:xfrm>
            <a:off x="2457075" y="2037676"/>
            <a:ext cx="2055000" cy="2632200"/>
          </a:xfrm>
          <a:prstGeom prst="roundRect">
            <a:avLst>
              <a:gd name="adj" fmla="val 1027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8" name="Google Shape;468;p52"/>
          <p:cNvSpPr/>
          <p:nvPr/>
        </p:nvSpPr>
        <p:spPr>
          <a:xfrm>
            <a:off x="4629475" y="2037676"/>
            <a:ext cx="2055000" cy="26322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9" name="Google Shape;469;p52"/>
          <p:cNvSpPr/>
          <p:nvPr/>
        </p:nvSpPr>
        <p:spPr>
          <a:xfrm>
            <a:off x="6801850" y="2037676"/>
            <a:ext cx="2055000" cy="2632200"/>
          </a:xfrm>
          <a:prstGeom prst="roundRect">
            <a:avLst>
              <a:gd name="adj" fmla="val 978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0" name="Google Shape;470;p52"/>
          <p:cNvSpPr txBox="1">
            <a:spLocks noGrp="1"/>
          </p:cNvSpPr>
          <p:nvPr>
            <p:ph type="body" idx="3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Scope and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service</a:t>
            </a:r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4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Validation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results</a:t>
            </a:r>
          </a:p>
        </p:txBody>
      </p:sp>
      <p:sp>
        <p:nvSpPr>
          <p:cNvPr id="472" name="Google Shape;472;p52"/>
          <p:cNvSpPr txBox="1">
            <a:spLocks noGrp="1"/>
          </p:cNvSpPr>
          <p:nvPr>
            <p:ph type="body" idx="1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What the results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mean, issues</a:t>
            </a:r>
          </a:p>
        </p:txBody>
      </p:sp>
      <p:sp>
        <p:nvSpPr>
          <p:cNvPr id="473" name="Google Shape;473;p52"/>
          <p:cNvSpPr txBox="1">
            <a:spLocks noGrp="1"/>
          </p:cNvSpPr>
          <p:nvPr>
            <p:ph type="body" idx="2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Final result,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next steps</a:t>
            </a:r>
          </a:p>
        </p:txBody>
      </p:sp>
      <p:sp>
        <p:nvSpPr>
          <p:cNvPr id="474" name="Google Shape;474;p52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PASS: AED is correctly built, packaged and integrated, on KWF field audio. It is a meaningful-audio gate, not a human detector.</a:t>
            </a:r>
          </a:p>
        </p:txBody>
      </p:sp>
      <p:sp>
        <p:nvSpPr>
          <p:cNvPr id="476" name="Google Shape;476;p52"/>
          <p:cNvSpPr txBox="1">
            <a:spLocks noGrp="1"/>
          </p:cNvSpPr>
          <p:nvPr>
            <p:ph type="subTitle" idx="9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sp>
        <p:nvSpPr>
          <p:cNvPr id="477" name="Google Shape;477;p52"/>
          <p:cNvSpPr txBox="1">
            <a:spLocks noGrp="1"/>
          </p:cNvSpPr>
          <p:nvPr>
            <p:ph type="subTitle" idx="1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478" name="Google Shape;478;p52"/>
          <p:cNvSpPr txBox="1">
            <a:spLocks noGrp="1"/>
          </p:cNvSpPr>
          <p:nvPr>
            <p:ph type="subTitle" idx="14"/>
          </p:nvPr>
        </p:nvSpPr>
        <p:spPr>
          <a:xfrm>
            <a:off x="282950" y="2144530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79" name="Google Shape;479;p52"/>
          <p:cNvSpPr txBox="1">
            <a:spLocks noGrp="1"/>
          </p:cNvSpPr>
          <p:nvPr>
            <p:ph type="subTitle" idx="15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subTitle" idx="16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81" name="Google Shape;481;p52"/>
          <p:cNvSpPr txBox="1">
            <a:spLocks noGrp="1"/>
          </p:cNvSpPr>
          <p:nvPr>
            <p:ph type="subTitle" idx="17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82" name="Google Shape;482;p52"/>
          <p:cNvSpPr txBox="1">
            <a:spLocks noGrp="1"/>
          </p:cNvSpPr>
          <p:nvPr>
            <p:ph type="subTitle" idx="5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3–4</a:t>
            </a:r>
          </a:p>
        </p:txBody>
      </p:sp>
      <p:sp>
        <p:nvSpPr>
          <p:cNvPr id="483" name="Google Shape;483;p52"/>
          <p:cNvSpPr txBox="1">
            <a:spLocks noGrp="1"/>
          </p:cNvSpPr>
          <p:nvPr>
            <p:ph type="subTitle" idx="6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5–8</a:t>
            </a:r>
          </a:p>
        </p:txBody>
      </p:sp>
      <p:sp>
        <p:nvSpPr>
          <p:cNvPr id="484" name="Google Shape;484;p52"/>
          <p:cNvSpPr txBox="1">
            <a:spLocks noGrp="1"/>
          </p:cNvSpPr>
          <p:nvPr>
            <p:ph type="subTitle" idx="7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9–10</a:t>
            </a:r>
          </a:p>
        </p:txBody>
      </p:sp>
      <p:sp>
        <p:nvSpPr>
          <p:cNvPr id="485" name="Google Shape;485;p52"/>
          <p:cNvSpPr txBox="1">
            <a:spLocks noGrp="1"/>
          </p:cNvSpPr>
          <p:nvPr>
            <p:ph type="subTitle" idx="8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11–12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0"/>
          <p:cNvSpPr/>
          <p:nvPr/>
        </p:nvSpPr>
        <p:spPr>
          <a:xfrm>
            <a:off x="2457048" y="1365900"/>
            <a:ext cx="2053500" cy="33027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85" name="Google Shape;785;p70"/>
          <p:cNvSpPr/>
          <p:nvPr/>
        </p:nvSpPr>
        <p:spPr>
          <a:xfrm>
            <a:off x="4629475" y="1365900"/>
            <a:ext cx="2053500" cy="3302700"/>
          </a:xfrm>
          <a:prstGeom prst="roundRect">
            <a:avLst>
              <a:gd name="adj" fmla="val 978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86" name="Google Shape;786;p70"/>
          <p:cNvSpPr/>
          <p:nvPr/>
        </p:nvSpPr>
        <p:spPr>
          <a:xfrm>
            <a:off x="284700" y="1365900"/>
            <a:ext cx="2053500" cy="33027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87" name="Google Shape;787;p70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788" name="Google Shape;788;p70"/>
          <p:cNvSpPr txBox="1">
            <a:spLocks noGrp="1"/>
          </p:cNvSpPr>
          <p:nvPr>
            <p:ph type="body" idx="7"/>
          </p:nvPr>
        </p:nvSpPr>
        <p:spPr>
          <a:xfrm>
            <a:off x="2457088" y="2514600"/>
            <a:ext cx="2053500" cy="20574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validate_aed.py: 45 checks across 8 areas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Run on 4,027 labelled field clips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The model never trained on these clips</a:t>
            </a:r>
          </a:p>
        </p:txBody>
      </p:sp>
      <p:sp>
        <p:nvSpPr>
          <p:cNvPr id="789" name="Google Shape;789;p70"/>
          <p:cNvSpPr txBox="1">
            <a:spLocks noGrp="1"/>
          </p:cNvSpPr>
          <p:nvPr>
            <p:ph type="body" idx="13"/>
          </p:nvPr>
        </p:nvSpPr>
        <p:spPr>
          <a:xfrm>
            <a:off x="4629475" y="2514600"/>
            <a:ext cx="2053500" cy="20574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5 raw field recordings, 46 hours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Run through the deployed twin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Scored against the staged-event ground truth</a:t>
            </a:r>
          </a:p>
        </p:txBody>
      </p:sp>
      <p:sp>
        <p:nvSpPr>
          <p:cNvPr id="790" name="Google Shape;790;p70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sp>
        <p:nvSpPr>
          <p:cNvPr id="791" name="Google Shape;791;p70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792" name="Google Shape;792;p70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Scope: </a:t>
            </a:r>
            <a:r>
              <a:rPr lang="en">
                <a:highlight>
                  <a:srgbClr val="AECBFA"/>
                </a:highlight>
              </a:rPr>
              <a:t>two ways in</a:t>
            </a:r>
            <a:r>
              <a:rPr lang="en"/>
              <a:t>, all on field audio</a:t>
            </a:r>
          </a:p>
        </p:txBody>
      </p:sp>
      <p:sp>
        <p:nvSpPr>
          <p:cNvPr id="793" name="Google Shape;793;p70"/>
          <p:cNvSpPr txBox="1">
            <a:spLocks noGrp="1"/>
          </p:cNvSpPr>
          <p:nvPr>
            <p:ph type="body" idx="4"/>
          </p:nvPr>
        </p:nvSpPr>
        <p:spPr>
          <a:xfrm>
            <a:off x="284700" y="2514600"/>
            <a:ext cx="2053500" cy="20574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TinyCNN v3, a binary gate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Is a 3 s clip meaningful audio (birds, wildlife, human activity) or background?</a:t>
            </a:r>
          </a:p>
        </p:txBody>
      </p:sp>
      <p:sp>
        <p:nvSpPr>
          <p:cNvPr id="794" name="Google Shape;794;p70"/>
          <p:cNvSpPr txBox="1">
            <a:spLocks noGrp="1"/>
          </p:cNvSpPr>
          <p:nvPr>
            <p:ph type="title" idx="5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Model under test</a:t>
            </a:r>
          </a:p>
        </p:txBody>
      </p:sp>
      <p:sp>
        <p:nvSpPr>
          <p:cNvPr id="795" name="Google Shape;795;p70"/>
          <p:cNvSpPr txBox="1">
            <a:spLocks noGrp="1"/>
          </p:cNvSpPr>
          <p:nvPr>
            <p:ph type="title" idx="6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96" name="Google Shape;796;p70"/>
          <p:cNvSpPr txBox="1">
            <a:spLocks noGrp="1"/>
          </p:cNvSpPr>
          <p:nvPr>
            <p:ph type="title" idx="8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Validation harness</a:t>
            </a:r>
          </a:p>
        </p:txBody>
      </p:sp>
      <p:sp>
        <p:nvSpPr>
          <p:cNvPr id="797" name="Google Shape;797;p70"/>
          <p:cNvSpPr txBox="1">
            <a:spLocks noGrp="1"/>
          </p:cNvSpPr>
          <p:nvPr>
            <p:ph type="title" idx="9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98" name="Google Shape;798;p70"/>
          <p:cNvSpPr txBox="1">
            <a:spLocks noGrp="1"/>
          </p:cNvSpPr>
          <p:nvPr>
            <p:ph type="title" idx="14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Digital Twin run</a:t>
            </a:r>
          </a:p>
        </p:txBody>
      </p:sp>
      <p:sp>
        <p:nvSpPr>
          <p:cNvPr id="799" name="Google Shape;799;p70"/>
          <p:cNvSpPr txBox="1">
            <a:spLocks noGrp="1"/>
          </p:cNvSpPr>
          <p:nvPr>
            <p:ph type="title" idx="15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00" name="Google Shape;800;p70"/>
          <p:cNvSpPr/>
          <p:nvPr/>
        </p:nvSpPr>
        <p:spPr>
          <a:xfrm>
            <a:off x="4233563" y="1550631"/>
            <a:ext cx="105300" cy="105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1" name="Google Shape;801;p70"/>
          <p:cNvSpPr/>
          <p:nvPr/>
        </p:nvSpPr>
        <p:spPr>
          <a:xfrm>
            <a:off x="6438013" y="1550631"/>
            <a:ext cx="105300" cy="10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2" name="Google Shape;802;p70"/>
          <p:cNvSpPr/>
          <p:nvPr/>
        </p:nvSpPr>
        <p:spPr>
          <a:xfrm>
            <a:off x="2061213" y="1550631"/>
            <a:ext cx="105300" cy="105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3" name="Side card"/>
          <p:cNvSpPr/>
          <p:nvPr/>
        </p:nvSpPr>
        <p:spPr>
          <a:xfrm>
            <a:off x="6803136" y="1362456"/>
            <a:ext cx="2057400" cy="3300984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4" name="Side title"/>
          <p:cNvSpPr txBox="1"/>
          <p:nvPr/>
        </p:nvSpPr>
        <p:spPr>
          <a:xfrm>
            <a:off x="6949440" y="155448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2124"/>
                </a:solidFill>
                <a:latin typeface="Instrument Sans"/>
              </a:rPr>
              <a:t>Goal</a:t>
            </a:r>
          </a:p>
        </p:txBody>
      </p:sp>
      <p:sp>
        <p:nvSpPr>
          <p:cNvPr id="805" name="Side text"/>
          <p:cNvSpPr txBox="1"/>
          <p:nvPr/>
        </p:nvSpPr>
        <p:spPr>
          <a:xfrm>
            <a:off x="6949440" y="2103120"/>
            <a:ext cx="17830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spcAft>
                <a:spcPts val="400"/>
              </a:spcAft>
              <a:buChar char="•"/>
            </a:pPr>
            <a:r>
              <a:rPr sz="950" b="0">
                <a:solidFill>
                  <a:srgbClr val="202124"/>
                </a:solidFill>
                <a:latin typeface="Instrument Sans"/>
              </a:rPr>
              <a:t>AED works as a deployable service</a:t>
            </a:r>
          </a:p>
          <a:p>
            <a:pPr marL="146304" indent="-146304" algn="l">
              <a:spcAft>
                <a:spcPts val="400"/>
              </a:spcAft>
              <a:buChar char="•"/>
            </a:pPr>
            <a:r>
              <a:rPr sz="950" b="0">
                <a:solidFill>
                  <a:srgbClr val="202124"/>
                </a:solidFill>
                <a:latin typeface="Instrument Sans"/>
              </a:rPr>
              <a:t>AED works inside the Digital Twin</a:t>
            </a:r>
          </a:p>
          <a:p>
            <a:pPr marL="146304" indent="-146304" algn="l">
              <a:spcAft>
                <a:spcPts val="400"/>
              </a:spcAft>
              <a:buChar char="•"/>
            </a:pPr>
            <a:r>
              <a:rPr sz="950" b="0">
                <a:solidFill>
                  <a:srgbClr val="202124"/>
                </a:solidFill>
                <a:latin typeface="Instrument Sans"/>
              </a:rPr>
              <a:t>All on KWF AudioMoth field audio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0"/>
          <p:cNvSpPr/>
          <p:nvPr/>
        </p:nvSpPr>
        <p:spPr>
          <a:xfrm>
            <a:off x="3186684" y="1365900"/>
            <a:ext cx="2770632" cy="33027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85" name="Google Shape;785;p70"/>
          <p:cNvSpPr/>
          <p:nvPr/>
        </p:nvSpPr>
        <p:spPr>
          <a:xfrm>
            <a:off x="6089903" y="1365900"/>
            <a:ext cx="2770632" cy="3302700"/>
          </a:xfrm>
          <a:prstGeom prst="roundRect">
            <a:avLst>
              <a:gd name="adj" fmla="val 978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86" name="Google Shape;786;p70"/>
          <p:cNvSpPr/>
          <p:nvPr/>
        </p:nvSpPr>
        <p:spPr>
          <a:xfrm>
            <a:off x="283464" y="1365900"/>
            <a:ext cx="2770632" cy="33027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87" name="Google Shape;787;p70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788" name="Google Shape;788;p70"/>
          <p:cNvSpPr txBox="1">
            <a:spLocks noGrp="1"/>
          </p:cNvSpPr>
          <p:nvPr>
            <p:ph type="body" idx="7"/>
          </p:nvPr>
        </p:nvSpPr>
        <p:spPr>
          <a:xfrm>
            <a:off x="3186684" y="2514600"/>
            <a:ext cx="2770632" cy="20574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TinyCNN v3, 547,937 parameters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Outputs not_meaningful_prob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Label not_meaningful above 0.5</a:t>
            </a:r>
          </a:p>
        </p:txBody>
      </p:sp>
      <p:sp>
        <p:nvSpPr>
          <p:cNvPr id="789" name="Google Shape;789;p70"/>
          <p:cNvSpPr txBox="1">
            <a:spLocks noGrp="1"/>
          </p:cNvSpPr>
          <p:nvPr>
            <p:ph type="body" idx="13"/>
          </p:nvPr>
        </p:nvSpPr>
        <p:spPr>
          <a:xfrm>
            <a:off x="6089903" y="2514600"/>
            <a:ext cx="2770632" cy="20574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POST /predict: upload a .wav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Returns {label, not_meaningful_prob}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GET /health returns {status: ok}</a:t>
            </a:r>
          </a:p>
        </p:txBody>
      </p:sp>
      <p:sp>
        <p:nvSpPr>
          <p:cNvPr id="790" name="Google Shape;790;p70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sp>
        <p:nvSpPr>
          <p:cNvPr id="791" name="Google Shape;791;p70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792" name="Google Shape;792;p70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1: </a:t>
            </a:r>
            <a:r>
              <a:rPr lang="en">
                <a:highlight>
                  <a:srgbClr val="AECBFA"/>
                </a:highlight>
              </a:rPr>
              <a:t>the model and service</a:t>
            </a:r>
          </a:p>
        </p:txBody>
      </p:sp>
      <p:sp>
        <p:nvSpPr>
          <p:cNvPr id="793" name="Google Shape;793;p70"/>
          <p:cNvSpPr txBox="1">
            <a:spLocks noGrp="1"/>
          </p:cNvSpPr>
          <p:nvPr>
            <p:ph type="body" idx="4"/>
          </p:nvPr>
        </p:nvSpPr>
        <p:spPr>
          <a:xfrm>
            <a:off x="283464" y="2514600"/>
            <a:ext cx="2770632" cy="20574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3 s mono audio at 48 kHz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Log-mel spectrogram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/>
              <a:t>128 mel bands × 256 frames</a:t>
            </a:r>
          </a:p>
        </p:txBody>
      </p:sp>
      <p:sp>
        <p:nvSpPr>
          <p:cNvPr id="794" name="Google Shape;794;p70"/>
          <p:cNvSpPr txBox="1">
            <a:spLocks noGrp="1"/>
          </p:cNvSpPr>
          <p:nvPr>
            <p:ph type="title" idx="5"/>
          </p:nvPr>
        </p:nvSpPr>
        <p:spPr>
          <a:xfrm>
            <a:off x="283464" y="2053175"/>
            <a:ext cx="2770632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Input</a:t>
            </a:r>
          </a:p>
        </p:txBody>
      </p:sp>
      <p:sp>
        <p:nvSpPr>
          <p:cNvPr id="795" name="Google Shape;795;p70"/>
          <p:cNvSpPr txBox="1">
            <a:spLocks noGrp="1"/>
          </p:cNvSpPr>
          <p:nvPr>
            <p:ph type="title" idx="6"/>
          </p:nvPr>
        </p:nvSpPr>
        <p:spPr>
          <a:xfrm>
            <a:off x="283464" y="1557525"/>
            <a:ext cx="1068000" cy="4407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96" name="Google Shape;796;p70"/>
          <p:cNvSpPr txBox="1">
            <a:spLocks noGrp="1"/>
          </p:cNvSpPr>
          <p:nvPr>
            <p:ph type="title" idx="8"/>
          </p:nvPr>
        </p:nvSpPr>
        <p:spPr>
          <a:xfrm>
            <a:off x="3186684" y="2053175"/>
            <a:ext cx="2770632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Model and output</a:t>
            </a:r>
          </a:p>
        </p:txBody>
      </p:sp>
      <p:sp>
        <p:nvSpPr>
          <p:cNvPr id="797" name="Google Shape;797;p70"/>
          <p:cNvSpPr txBox="1">
            <a:spLocks noGrp="1"/>
          </p:cNvSpPr>
          <p:nvPr>
            <p:ph type="title" idx="9"/>
          </p:nvPr>
        </p:nvSpPr>
        <p:spPr>
          <a:xfrm>
            <a:off x="3186684" y="1557525"/>
            <a:ext cx="1068000" cy="4407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98" name="Google Shape;798;p70"/>
          <p:cNvSpPr txBox="1">
            <a:spLocks noGrp="1"/>
          </p:cNvSpPr>
          <p:nvPr>
            <p:ph type="title" idx="14"/>
          </p:nvPr>
        </p:nvSpPr>
        <p:spPr>
          <a:xfrm>
            <a:off x="6089903" y="2053175"/>
            <a:ext cx="2770632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Service</a:t>
            </a:r>
          </a:p>
        </p:txBody>
      </p:sp>
      <p:sp>
        <p:nvSpPr>
          <p:cNvPr id="799" name="Google Shape;799;p70"/>
          <p:cNvSpPr txBox="1">
            <a:spLocks noGrp="1"/>
          </p:cNvSpPr>
          <p:nvPr>
            <p:ph type="title" idx="15"/>
          </p:nvPr>
        </p:nvSpPr>
        <p:spPr>
          <a:xfrm>
            <a:off x="6089903" y="1557525"/>
            <a:ext cx="1068000" cy="4407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00" name="Google Shape;800;p70"/>
          <p:cNvSpPr/>
          <p:nvPr/>
        </p:nvSpPr>
        <p:spPr>
          <a:xfrm>
            <a:off x="5673852" y="1550631"/>
            <a:ext cx="105300" cy="105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1" name="Google Shape;801;p70"/>
          <p:cNvSpPr/>
          <p:nvPr/>
        </p:nvSpPr>
        <p:spPr>
          <a:xfrm>
            <a:off x="8577072" y="1550631"/>
            <a:ext cx="105300" cy="10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2" name="Google Shape;802;p70"/>
          <p:cNvSpPr/>
          <p:nvPr/>
        </p:nvSpPr>
        <p:spPr>
          <a:xfrm>
            <a:off x="2770632" y="1550631"/>
            <a:ext cx="105300" cy="105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6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732" name="Google Shape;732;p66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2: </a:t>
            </a:r>
            <a:r>
              <a:rPr lang="en">
                <a:highlight>
                  <a:srgbClr val="AECBFA"/>
                </a:highlight>
              </a:rPr>
              <a:t>correct model</a:t>
            </a:r>
            <a:r>
              <a:rPr lang="en"/>
              <a:t>, matching preprocessing</a:t>
            </a:r>
          </a:p>
        </p:txBody>
      </p:sp>
      <p:sp>
        <p:nvSpPr>
          <p:cNvPr id="734" name="Google Shape;734;p6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736" name="Google Shape;736;p66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graphicFrame>
        <p:nvGraphicFramePr>
          <p:cNvPr id="737" name="Task 2 table"/>
          <p:cNvGraphicFramePr>
            <a:graphicFrameLocks noGrp="1"/>
          </p:cNvGraphicFramePr>
          <p:nvPr/>
        </p:nvGraphicFramePr>
        <p:xfrm>
          <a:off x="283464" y="1234440"/>
          <a:ext cx="8567928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1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Check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Same checkpoint everywhere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API, batch pipeline and Digital Twin: byte-identical (SHA-256 913a78a4…)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PASS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ONNX export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Matches PyTorch; max difference ≤ 7.8 × 10⁻⁷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PASS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Preprocessing: labelling, CLI, API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Bit-identical to the training notebook on all 4,027 field clips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PASS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Digital Twin preprocessing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&lt; 0.001 dB on 4,024 of 4,027 clips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PASS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The other 3 twin clips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 of 32,768 spectrogram cells differs; predictions unchanged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PASS in effect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FF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38" name="Why card"/>
          <p:cNvSpPr/>
          <p:nvPr/>
        </p:nvSpPr>
        <p:spPr>
          <a:xfrm>
            <a:off x="283464" y="3611880"/>
            <a:ext cx="8567928" cy="777240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Why text"/>
          <p:cNvSpPr txBox="1"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Instrument Sans"/>
              </a:rPr>
              <a:t>Why 3 clips differ: </a:t>
            </a:r>
            <a:r>
              <a:rPr sz="1050" b="0">
                <a:solidFill>
                  <a:srgbClr val="202124"/>
                </a:solidFill>
                <a:latin typeface="Instrument Sans"/>
              </a:rPr>
              <a:t>they are the quietest pre-dawn clips, and the twin normalises volume before computing the spectrogram.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6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732" name="Google Shape;732;p66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3: the </a:t>
            </a:r>
            <a:r>
              <a:rPr lang="en">
                <a:highlight>
                  <a:srgbClr val="AECBFA"/>
                </a:highlight>
              </a:rPr>
              <a:t>API contract</a:t>
            </a:r>
            <a:r>
              <a:rPr lang="en"/>
              <a:t> holds</a:t>
            </a:r>
          </a:p>
        </p:txBody>
      </p:sp>
      <p:sp>
        <p:nvSpPr>
          <p:cNvPr id="734" name="Google Shape;734;p6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736" name="Google Shape;736;p66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graphicFrame>
        <p:nvGraphicFramePr>
          <p:cNvPr id="737" name="API table"/>
          <p:cNvGraphicFramePr>
            <a:graphicFrameLocks noGrp="1"/>
          </p:cNvGraphicFramePr>
          <p:nvPr/>
        </p:nvGraphicFramePr>
        <p:xfrm>
          <a:off x="283464" y="1234440"/>
          <a:ext cx="5029200" cy="2560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Check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All 4,027 field clips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HTTP 200, correct schema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Labels vs threshold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Consistent on every clip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Non-.wav file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400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Corrupt, empty or missing file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422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Identical requests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Identical responses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202124"/>
                          </a:solidFill>
                          <a:latin typeface="Instrument Sans"/>
                        </a:rPr>
                        <a:t>Latency (MacBook)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202124"/>
                          </a:solidFill>
                          <a:latin typeface="Instrument Sans"/>
                        </a:rPr>
                        <a:t>p50 about 5–6 </a:t>
                      </a:r>
                      <a:r>
                        <a:rPr sz="1000" b="0" dirty="0" err="1">
                          <a:solidFill>
                            <a:srgbClr val="202124"/>
                          </a:solidFill>
                          <a:latin typeface="Instrument Sans"/>
                        </a:rPr>
                        <a:t>ms</a:t>
                      </a:r>
                      <a:endParaRPr sz="1000" b="0" dirty="0">
                        <a:solidFill>
                          <a:srgbClr val="202124"/>
                        </a:solidFill>
                        <a:latin typeface="Instrument Sans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38" name="Request card"/>
          <p:cNvSpPr/>
          <p:nvPr/>
        </p:nvSpPr>
        <p:spPr>
          <a:xfrm>
            <a:off x="5440680" y="1234440"/>
            <a:ext cx="3410712" cy="1965960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Request text"/>
          <p:cNvSpPr txBox="1"/>
          <p:nvPr/>
        </p:nvSpPr>
        <p:spPr>
          <a:xfrm>
            <a:off x="5623560" y="137160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02124"/>
                </a:solidFill>
                <a:latin typeface="Instrument Sans"/>
              </a:rPr>
              <a:t>Request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Courier New"/>
              </a:rPr>
              <a:t>POST /predict  file = clip.wav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202124"/>
                </a:solidFill>
                <a:latin typeface="Instrument Sans"/>
              </a:rPr>
              <a:t>Response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Courier New"/>
              </a:rPr>
              <a:t>{"label": "meaningful",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124"/>
                </a:solidFill>
                <a:latin typeface="Courier New"/>
              </a:rPr>
              <a:t> "not_meaningful_prob": 0 to 1}</a:t>
            </a:r>
          </a:p>
        </p:txBody>
      </p:sp>
      <p:sp>
        <p:nvSpPr>
          <p:cNvPr id="740" name="Both ways card"/>
          <p:cNvSpPr/>
          <p:nvPr/>
        </p:nvSpPr>
        <p:spPr>
          <a:xfrm>
            <a:off x="5440680" y="3337560"/>
            <a:ext cx="3410712" cy="731520"/>
          </a:xfrm>
          <a:prstGeom prst="roundRect">
            <a:avLst>
              <a:gd name="adj" fmla="val 8000"/>
            </a:avLst>
          </a:prstGeom>
          <a:solidFill>
            <a:srgbClr val="AEC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Both ways text"/>
          <p:cNvSpPr txBox="1"/>
          <p:nvPr/>
        </p:nvSpPr>
        <p:spPr>
          <a:xfrm>
            <a:off x="5623560" y="33375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02124"/>
                </a:solidFill>
                <a:latin typeface="Instrument Sans"/>
              </a:rPr>
              <a:t>Tested both ways: </a:t>
            </a:r>
            <a:r>
              <a:rPr sz="1000" b="0">
                <a:solidFill>
                  <a:srgbClr val="202124"/>
                </a:solidFill>
                <a:latin typeface="Instrument Sans"/>
              </a:rPr>
              <a:t>in-process, and against a live uvicorn server over HTTP. Both PASS.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6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732" name="Google Shape;732;p66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4: </a:t>
            </a:r>
            <a:r>
              <a:rPr lang="en">
                <a:highlight>
                  <a:srgbClr val="AECBFA"/>
                </a:highlight>
              </a:rPr>
              <a:t>held-out KWF field clips</a:t>
            </a:r>
          </a:p>
        </p:txBody>
      </p:sp>
      <p:sp>
        <p:nvSpPr>
          <p:cNvPr id="734" name="Google Shape;734;p6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736" name="Google Shape;736;p66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graphicFrame>
        <p:nvGraphicFramePr>
          <p:cNvPr id="737" name="Task 4 table"/>
          <p:cNvGraphicFramePr>
            <a:graphicFrameLocks noGrp="1"/>
          </p:cNvGraphicFramePr>
          <p:nvPr/>
        </p:nvGraphicFramePr>
        <p:xfrm>
          <a:off x="283464" y="1234440"/>
          <a:ext cx="6537959" cy="26334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Group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Clips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Events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Correct at threshold 0.5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Background (rain, insect chorus, quiet)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586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 dropped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BirdNET-confirmed birds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500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 kept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Chainsaw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 kept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Gunshot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 kept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Vehicle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 kept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Human presence, on trail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2,248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 kept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Human presence, off trail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99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66% kept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FF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38" name="Overall card"/>
          <p:cNvSpPr/>
          <p:nvPr/>
        </p:nvSpPr>
        <p:spPr>
          <a:xfrm>
            <a:off x="6995160" y="1234440"/>
            <a:ext cx="1856231" cy="263347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Overall text"/>
          <p:cNvSpPr txBox="1"/>
          <p:nvPr/>
        </p:nvSpPr>
        <p:spPr>
          <a:xfrm>
            <a:off x="7132320" y="1371600"/>
            <a:ext cx="16002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02124"/>
                </a:solidFill>
                <a:latin typeface="Instrument Sans"/>
              </a:rPr>
              <a:t>99.2%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Instrument Sans"/>
              </a:rPr>
              <a:t>accuracy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202124"/>
                </a:solidFill>
                <a:latin typeface="Instrument Sans"/>
              </a:rPr>
              <a:t>99.0%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Instrument Sans"/>
              </a:rPr>
              <a:t>meaningful clips kept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202124"/>
                </a:solidFill>
                <a:latin typeface="Instrument Sans"/>
              </a:rPr>
              <a:t>100%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Instrument Sans"/>
              </a:rPr>
              <a:t>background dropped</a:t>
            </a:r>
          </a:p>
        </p:txBody>
      </p:sp>
      <p:sp>
        <p:nvSpPr>
          <p:cNvPr id="740" name="Task 4 notes"/>
          <p:cNvSpPr txBox="1"/>
          <p:nvPr/>
        </p:nvSpPr>
        <p:spPr>
          <a:xfrm>
            <a:off x="283464" y="3977639"/>
            <a:ext cx="85679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Instrument Sans"/>
              </a:rPr>
              <a:t>Test set: </a:t>
            </a:r>
            <a:r>
              <a:rPr sz="950" b="0">
                <a:solidFill>
                  <a:srgbClr val="202124"/>
                </a:solidFill>
                <a:latin typeface="Instrument Sans"/>
              </a:rPr>
              <a:t>v3's own held-out validation split, reproduced exactly (counts match the checkpoint). CLI, API, ONNX and twin agree within 5 × 10⁻⁵, 0 label disagreements.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Instrument Sans"/>
              </a:rPr>
              <a:t>Caveat: </a:t>
            </a:r>
            <a:r>
              <a:rPr sz="950" b="0">
                <a:solidFill>
                  <a:srgbClr val="202124"/>
                </a:solidFill>
                <a:latin typeface="Instrument Sans"/>
              </a:rPr>
              <a:t>"kept" means AED didn't discard the clip, not that it recognised the human sound; birds and insects often share the clip.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6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732" name="Google Shape;732;p66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5: through the </a:t>
            </a:r>
            <a:r>
              <a:rPr lang="en">
                <a:highlight>
                  <a:srgbClr val="AECBFA"/>
                </a:highlight>
              </a:rPr>
              <a:t>deployed Digital Twin</a:t>
            </a:r>
          </a:p>
        </p:txBody>
      </p:sp>
      <p:sp>
        <p:nvSpPr>
          <p:cNvPr id="734" name="Google Shape;734;p6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736" name="Google Shape;736;p66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graphicFrame>
        <p:nvGraphicFramePr>
          <p:cNvPr id="737" name="Twin table"/>
          <p:cNvGraphicFramePr>
            <a:graphicFrameLocks noGrp="1"/>
          </p:cNvGraphicFramePr>
          <p:nvPr/>
        </p:nvGraphicFramePr>
        <p:xfrm>
          <a:off x="283464" y="1234440"/>
          <a:ext cx="7589520" cy="18653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Event type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Found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Recall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Chance recall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Instrument Sans"/>
                        </a:rPr>
                        <a:t>Rate vs background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Chainsaw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2/2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0.29×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Gunshot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4/4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99%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1.68×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Human presence, off trail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1/2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50%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98%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0.10×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Human presence, on trail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6/6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1.71×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Vehicle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2/2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Instrument Sans"/>
                        </a:rPr>
                        <a:t>2.87×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38" name="Found card"/>
          <p:cNvSpPr/>
          <p:nvPr/>
        </p:nvSpPr>
        <p:spPr>
          <a:xfrm>
            <a:off x="8001000" y="1234440"/>
            <a:ext cx="850392" cy="1865376"/>
          </a:xfrm>
          <a:prstGeom prst="roundRect">
            <a:avLst>
              <a:gd name="adj" fmla="val 8000"/>
            </a:avLst>
          </a:prstGeom>
          <a:solidFill>
            <a:srgbClr val="AEC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Found text"/>
          <p:cNvSpPr txBox="1"/>
          <p:nvPr/>
        </p:nvSpPr>
        <p:spPr>
          <a:xfrm>
            <a:off x="8001000" y="1234440"/>
            <a:ext cx="850392" cy="1865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02124"/>
                </a:solidFill>
                <a:latin typeface="Instrument Sans"/>
              </a:rPr>
              <a:t>15/16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Instrument Sans"/>
              </a:rPr>
              <a:t>events found</a:t>
            </a:r>
          </a:p>
        </p:txBody>
      </p:sp>
      <p:sp>
        <p:nvSpPr>
          <p:cNvPr id="740" name="Twin card 1"/>
          <p:cNvSpPr/>
          <p:nvPr/>
        </p:nvSpPr>
        <p:spPr>
          <a:xfrm>
            <a:off x="283464" y="3246120"/>
            <a:ext cx="4215384" cy="1280160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Twin card text 1"/>
          <p:cNvSpPr txBox="1"/>
          <p:nvPr/>
        </p:nvSpPr>
        <p:spPr>
          <a:xfrm>
            <a:off x="448056" y="3337560"/>
            <a:ext cx="3886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Instrument Sans"/>
              </a:rPr>
              <a:t>Setup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Instrument Sans"/>
              </a:rPr>
              <a:t>Twin run locally with Docker; same checkpoint and architecture as ours. 5 raw recordings (46 h), 16 of 63 staged events, logs from event_table.csv. One run per recording via the twin's API, UI default threshold 0.75.</a:t>
            </a:r>
          </a:p>
        </p:txBody>
      </p:sp>
      <p:sp>
        <p:nvSpPr>
          <p:cNvPr id="742" name="Twin card 2"/>
          <p:cNvSpPr/>
          <p:nvPr/>
        </p:nvSpPr>
        <p:spPr>
          <a:xfrm>
            <a:off x="4636007" y="3246120"/>
            <a:ext cx="4215384" cy="1280160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Twin card text 2"/>
          <p:cNvSpPr txBox="1"/>
          <p:nvPr/>
        </p:nvSpPr>
        <p:spPr>
          <a:xfrm>
            <a:off x="4800599" y="3337560"/>
            <a:ext cx="3886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Instrument Sans"/>
              </a:rPr>
              <a:t>Cross-checks passed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Instrument Sans"/>
              </a:rPr>
              <a:t>Deployed twin and an independent local run agree on 4,527 clips within 1.2 × 10⁻⁶. Our offline scorer reproduces the dashboard's recall, precision and counts exactly. Precision 3–10% per recording.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6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732" name="Google Shape;732;p66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Chance Hits vs Background</a:t>
            </a:r>
            <a:endParaRPr lang="en" dirty="0">
              <a:highlight>
                <a:srgbClr val="FFC9C9"/>
              </a:highlight>
            </a:endParaRPr>
          </a:p>
        </p:txBody>
      </p:sp>
      <p:sp>
        <p:nvSpPr>
          <p:cNvPr id="734" name="Google Shape;734;p6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736" name="Google Shape;736;p66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graphicFrame>
        <p:nvGraphicFramePr>
          <p:cNvPr id="737" name="Rate chart"/>
          <p:cNvGraphicFramePr>
            <a:graphicFrameLocks noGrp="1"/>
          </p:cNvGraphicFramePr>
          <p:nvPr/>
        </p:nvGraphicFramePr>
        <p:xfrm>
          <a:off x="283464" y="1234440"/>
          <a:ext cx="48463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38" name="Meaning card"/>
          <p:cNvSpPr/>
          <p:nvPr/>
        </p:nvSpPr>
        <p:spPr>
          <a:xfrm>
            <a:off x="5349240" y="1234440"/>
            <a:ext cx="3502152" cy="3291840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Meaning text"/>
          <p:cNvSpPr txBox="1"/>
          <p:nvPr/>
        </p:nvSpPr>
        <p:spPr>
          <a:xfrm>
            <a:off x="5513832" y="1371600"/>
            <a:ext cx="3200400" cy="306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202124"/>
                </a:solidFill>
                <a:latin typeface="Instrument Sans"/>
              </a:rPr>
              <a:t>Chance hits: </a:t>
            </a:r>
            <a:r>
              <a:rPr sz="950" b="0">
                <a:solidFill>
                  <a:srgbClr val="202124"/>
                </a:solidFill>
                <a:latin typeface="Instrument Sans"/>
              </a:rPr>
              <a:t>AED passes all meaningful audio, birds included. At 0.7–3.8 detections a minute, a 5-minute window is almost always hit.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202124"/>
                </a:solidFill>
                <a:latin typeface="Instrument Sans"/>
              </a:rPr>
              <a:t>The prefilter decides: </a:t>
            </a:r>
            <a:r>
              <a:rPr sz="950" b="0">
                <a:solidFill>
                  <a:srgbClr val="202124"/>
                </a:solidFill>
                <a:latin typeface="Instrument Sans"/>
              </a:rPr>
              <a:t>AED kept 98% of clips the twin's stage-1 prefilter sent it. The missed event never reached AED.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202124"/>
                </a:solidFill>
                <a:latin typeface="Instrument Sans"/>
              </a:rPr>
              <a:t>Threshold barely matters: </a:t>
            </a:r>
            <a:r>
              <a:rPr sz="950" b="0">
                <a:solidFill>
                  <a:srgbClr val="202124"/>
                </a:solidFill>
                <a:latin typeface="Instrument Sans"/>
              </a:rPr>
              <a:t>field scores sit close to 0 or 1.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202124"/>
                </a:solidFill>
                <a:latin typeface="Instrument Sans"/>
              </a:rPr>
              <a:t>Low precision is expected: </a:t>
            </a:r>
            <a:r>
              <a:rPr sz="950" b="0">
                <a:solidFill>
                  <a:srgbClr val="202124"/>
                </a:solidFill>
                <a:latin typeface="Instrument Sans"/>
              </a:rPr>
              <a:t>every bird detection counts as a false alarm against human events.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6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732" name="Google Shape;732;p66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6: issues found, </a:t>
            </a:r>
            <a:r>
              <a:rPr lang="en">
                <a:highlight>
                  <a:srgbClr val="AECBFA"/>
                </a:highlight>
              </a:rPr>
              <a:t>none blocking</a:t>
            </a:r>
          </a:p>
        </p:txBody>
      </p:sp>
      <p:sp>
        <p:nvSpPr>
          <p:cNvPr id="734" name="Google Shape;734;p6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736" name="Google Shape;736;p66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sp>
        <p:nvSpPr>
          <p:cNvPr id="737" name="Issues head 1"/>
          <p:cNvSpPr txBox="1"/>
          <p:nvPr/>
        </p:nvSpPr>
        <p:spPr>
          <a:xfrm>
            <a:off x="283464" y="1143000"/>
            <a:ext cx="85679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Instrument Sans"/>
              </a:rPr>
              <a:t>Model and integration</a:t>
            </a:r>
          </a:p>
        </p:txBody>
      </p:sp>
      <p:graphicFrame>
        <p:nvGraphicFramePr>
          <p:cNvPr id="738" name="Issues table"/>
          <p:cNvGraphicFramePr>
            <a:graphicFrameLocks noGrp="1"/>
          </p:cNvGraphicFramePr>
          <p:nvPr/>
        </p:nvGraphicFramePr>
        <p:xfrm>
          <a:off x="283464" y="1389888"/>
          <a:ext cx="8567928" cy="15910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7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02124"/>
                          </a:solidFill>
                          <a:latin typeface="Instrument Sans"/>
                        </a:rPr>
                        <a:t>Issue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02124"/>
                          </a:solidFill>
                          <a:latin typeface="Instrument Sans"/>
                        </a:rPr>
                        <a:t>Detail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202124"/>
                          </a:solidFill>
                          <a:latin typeface="Instrument Sans"/>
                        </a:rPr>
                        <a:t>Quiet off-trail walk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34 of 99 clips scored as background; the twin's prefilter missed the event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End-of-clip blind spot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The model sees only the first 2.73 s of each 3 s clip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Twin volume normalisation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1 spectrogram cell differs on very quiet clips; predictions unaffected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Twin dashboard labels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Field event types show as raw codes (e.g. Human_Presence_Off_Trail)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Overlapping staged events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202124"/>
                          </a:solidFill>
                          <a:latin typeface="Instrument Sans"/>
                        </a:rPr>
                        <a:t>Gunshots and chainsaws happened during walks; one detection counts for several types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6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732" name="Google Shape;732;p66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8229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validation result: </a:t>
            </a:r>
            <a:r>
              <a:rPr lang="en">
                <a:highlight>
                  <a:srgbClr val="AECBFA"/>
                </a:highlight>
              </a:rPr>
              <a:t>PASS</a:t>
            </a:r>
          </a:p>
        </p:txBody>
      </p:sp>
      <p:sp>
        <p:nvSpPr>
          <p:cNvPr id="734" name="Google Shape;734;p6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736" name="Google Shape;736;p66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  <p:graphicFrame>
        <p:nvGraphicFramePr>
          <p:cNvPr id="737" name="Result table"/>
          <p:cNvGraphicFramePr>
            <a:graphicFrameLocks noGrp="1"/>
          </p:cNvGraphicFramePr>
          <p:nvPr/>
        </p:nvGraphicFramePr>
        <p:xfrm>
          <a:off x="283464" y="1234440"/>
          <a:ext cx="8567928" cy="27157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7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02124"/>
                          </a:solidFill>
                          <a:latin typeface="Instrument Sans"/>
                        </a:rPr>
                        <a:t>Area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02124"/>
                          </a:solidFill>
                          <a:latin typeface="Instrument Sans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Correct model artifact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PASS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Preprocessing parity (training = labelling = CLI = API)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PASS: bit-identical on 4,027 field clips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Digital Twin preprocessing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PASS in effect: 1 cell differs in 3 quiet clips, predictions identical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API contract (in-process and live HTTP)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PASS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Cross-path consistency (CLI / API / ONNX / twin)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PASS: within 5 × 10⁻⁵, 0 label disagreements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Field-clip accuracy (held out)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99.0% meaningful kept, 100% background dropped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Deployed Digital Twin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PASS: dashboard reproduced exactly; 15 of 16 events found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AEC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Detecting human activity specifically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Instrument Sans"/>
                        </a:rPr>
                        <a:t>Not separable from wildlife (slide 9)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solidFill>
                      <a:srgbClr val="FF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38" name="Result caveat"/>
          <p:cNvSpPr txBox="1"/>
          <p:nvPr/>
        </p:nvSpPr>
        <p:spPr>
          <a:xfrm>
            <a:off x="283464" y="4069080"/>
            <a:ext cx="8567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02124"/>
                </a:solidFill>
                <a:latin typeface="Instrument Sans"/>
              </a:rPr>
              <a:t>Caveat: </a:t>
            </a:r>
            <a:r>
              <a:rPr sz="950" b="0">
                <a:solidFill>
                  <a:srgbClr val="202124"/>
                </a:solidFill>
                <a:latin typeface="Instrument Sans"/>
              </a:rPr>
              <a:t>AED is a meaningful-audio gate, not a human-activity detector. On field audio its recall against human events can't be separated from wildlife detections.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7"/>
          <p:cNvSpPr/>
          <p:nvPr/>
        </p:nvSpPr>
        <p:spPr>
          <a:xfrm>
            <a:off x="284700" y="1713838"/>
            <a:ext cx="8572200" cy="646200"/>
          </a:xfrm>
          <a:prstGeom prst="roundRect">
            <a:avLst>
              <a:gd name="adj" fmla="val 2947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28" name="Google Shape;1028;p77"/>
          <p:cNvSpPr/>
          <p:nvPr/>
        </p:nvSpPr>
        <p:spPr>
          <a:xfrm>
            <a:off x="284700" y="2484175"/>
            <a:ext cx="8572200" cy="646200"/>
          </a:xfrm>
          <a:prstGeom prst="roundRect">
            <a:avLst>
              <a:gd name="adj" fmla="val 2947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29" name="Google Shape;1029;p77"/>
          <p:cNvSpPr/>
          <p:nvPr/>
        </p:nvSpPr>
        <p:spPr>
          <a:xfrm>
            <a:off x="284700" y="3254513"/>
            <a:ext cx="8572200" cy="646200"/>
          </a:xfrm>
          <a:prstGeom prst="roundRect">
            <a:avLst>
              <a:gd name="adj" fmla="val 2947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30" name="Google Shape;1030;p77"/>
          <p:cNvSpPr/>
          <p:nvPr/>
        </p:nvSpPr>
        <p:spPr>
          <a:xfrm>
            <a:off x="284700" y="4024838"/>
            <a:ext cx="8572200" cy="646200"/>
          </a:xfrm>
          <a:prstGeom prst="roundRect">
            <a:avLst>
              <a:gd name="adj" fmla="val 2947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31" name="Google Shape;1031;p77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16, 2026</a:t>
            </a:r>
          </a:p>
        </p:txBody>
      </p:sp>
      <p:sp>
        <p:nvSpPr>
          <p:cNvPr id="1032" name="Google Shape;1032;p77"/>
          <p:cNvSpPr txBox="1">
            <a:spLocks noGrp="1"/>
          </p:cNvSpPr>
          <p:nvPr>
            <p:ph type="title"/>
          </p:nvPr>
        </p:nvSpPr>
        <p:spPr>
          <a:xfrm>
            <a:off x="288400" y="476400"/>
            <a:ext cx="6400800" cy="4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</a:t>
            </a:r>
            <a:r>
              <a:rPr lang="en">
                <a:highlight>
                  <a:srgbClr val="AECBFA"/>
                </a:highlight>
              </a:rPr>
              <a:t>steps</a:t>
            </a:r>
          </a:p>
        </p:txBody>
      </p:sp>
      <p:sp>
        <p:nvSpPr>
          <p:cNvPr id="1033" name="Google Shape;1033;p77"/>
          <p:cNvSpPr txBox="1">
            <a:spLocks noGrp="1"/>
          </p:cNvSpPr>
          <p:nvPr>
            <p:ph type="subTitle" idx="3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</a:p>
        </p:txBody>
      </p:sp>
      <p:sp>
        <p:nvSpPr>
          <p:cNvPr id="1034" name="Google Shape;1034;p77"/>
          <p:cNvSpPr txBox="1">
            <a:spLocks noGrp="1"/>
          </p:cNvSpPr>
          <p:nvPr>
            <p:ph type="subTitle" idx="4"/>
          </p:nvPr>
        </p:nvSpPr>
        <p:spPr>
          <a:xfrm>
            <a:off x="1148000" y="1713825"/>
            <a:ext cx="484632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 detection rate inside events vs background in the twin, alongside recall</a:t>
            </a:r>
          </a:p>
        </p:txBody>
      </p:sp>
      <p:sp>
        <p:nvSpPr>
          <p:cNvPr id="1035" name="Google Shape;1035;p77"/>
          <p:cNvSpPr txBox="1">
            <a:spLocks noGrp="1"/>
          </p:cNvSpPr>
          <p:nvPr>
            <p:ph type="subTitle" idx="5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Twin metric</a:t>
            </a:r>
          </a:p>
        </p:txBody>
      </p:sp>
      <p:sp>
        <p:nvSpPr>
          <p:cNvPr id="1036" name="Google Shape;1036;p77"/>
          <p:cNvSpPr txBox="1">
            <a:spLocks noGrp="1"/>
          </p:cNvSpPr>
          <p:nvPr>
            <p:ph type="subTitle" idx="6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</a:p>
        </p:txBody>
      </p:sp>
      <p:sp>
        <p:nvSpPr>
          <p:cNvPr id="1037" name="Google Shape;1037;p77"/>
          <p:cNvSpPr txBox="1">
            <a:spLocks noGrp="1"/>
          </p:cNvSpPr>
          <p:nvPr>
            <p:ph type="subTitle" idx="7"/>
          </p:nvPr>
        </p:nvSpPr>
        <p:spPr>
          <a:xfrm>
            <a:off x="1148000" y="2504519"/>
            <a:ext cx="484632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the field event types to the twin's labels</a:t>
            </a:r>
          </a:p>
        </p:txBody>
      </p:sp>
      <p:sp>
        <p:nvSpPr>
          <p:cNvPr id="1038" name="Google Shape;1038;p77"/>
          <p:cNvSpPr txBox="1">
            <a:spLocks noGrp="1"/>
          </p:cNvSpPr>
          <p:nvPr>
            <p:ph type="subTitle" idx="8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Twin dashboard</a:t>
            </a:r>
          </a:p>
        </p:txBody>
      </p:sp>
      <p:sp>
        <p:nvSpPr>
          <p:cNvPr id="1039" name="Google Shape;1039;p77"/>
          <p:cNvSpPr txBox="1">
            <a:spLocks noGrp="1"/>
          </p:cNvSpPr>
          <p:nvPr>
            <p:ph type="subTitle" idx="9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</a:p>
        </p:txBody>
      </p:sp>
      <p:sp>
        <p:nvSpPr>
          <p:cNvPr id="1040" name="Google Shape;1040;p77"/>
          <p:cNvSpPr txBox="1">
            <a:spLocks noGrp="1"/>
          </p:cNvSpPr>
          <p:nvPr>
            <p:ph type="subTitle" idx="13"/>
          </p:nvPr>
        </p:nvSpPr>
        <p:spPr>
          <a:xfrm>
            <a:off x="1148000" y="3253313"/>
            <a:ext cx="484632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Investigate quiet off-trail activity in AED and the prefilter</a:t>
            </a:r>
          </a:p>
        </p:txBody>
      </p:sp>
      <p:sp>
        <p:nvSpPr>
          <p:cNvPr id="1041" name="Google Shape;1041;p77"/>
          <p:cNvSpPr txBox="1">
            <a:spLocks noGrp="1"/>
          </p:cNvSpPr>
          <p:nvPr>
            <p:ph type="subTitle" idx="14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 spot</a:t>
            </a:r>
          </a:p>
        </p:txBody>
      </p:sp>
      <p:sp>
        <p:nvSpPr>
          <p:cNvPr id="1042" name="Google Shape;1042;p77"/>
          <p:cNvSpPr txBox="1">
            <a:spLocks noGrp="1"/>
          </p:cNvSpPr>
          <p:nvPr>
            <p:ph type="subTitle" idx="15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</a:p>
        </p:txBody>
      </p:sp>
      <p:sp>
        <p:nvSpPr>
          <p:cNvPr id="1043" name="Google Shape;1043;p77"/>
          <p:cNvSpPr txBox="1">
            <a:spLocks noGrp="1"/>
          </p:cNvSpPr>
          <p:nvPr>
            <p:ph type="subTitle" idx="16"/>
          </p:nvPr>
        </p:nvSpPr>
        <p:spPr>
          <a:xfrm>
            <a:off x="1148000" y="4027275"/>
            <a:ext cx="484632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 all 63 events (22 recordings, 67 GB); stage future events without overlap</a:t>
            </a:r>
          </a:p>
        </p:txBody>
      </p:sp>
      <p:sp>
        <p:nvSpPr>
          <p:cNvPr id="1044" name="Google Shape;1044;p77"/>
          <p:cNvSpPr txBox="1">
            <a:spLocks noGrp="1"/>
          </p:cNvSpPr>
          <p:nvPr>
            <p:ph type="subTitle" idx="17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</a:t>
            </a:r>
          </a:p>
        </p:txBody>
      </p:sp>
      <p:sp>
        <p:nvSpPr>
          <p:cNvPr id="1045" name="Google Shape;1045;p77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046" name="Google Shape;1046;p77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Cheryl Yan · KWF Jacamar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78"/>
          <p:cNvSpPr/>
          <p:nvPr/>
        </p:nvSpPr>
        <p:spPr>
          <a:xfrm>
            <a:off x="284700" y="3703425"/>
            <a:ext cx="4227300" cy="965100"/>
          </a:xfrm>
          <a:prstGeom prst="roundRect">
            <a:avLst>
              <a:gd name="adj" fmla="val 113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52" name="Google Shape;1052;p78"/>
          <p:cNvSpPr txBox="1">
            <a:spLocks noGrp="1"/>
          </p:cNvSpPr>
          <p:nvPr>
            <p:ph type="title"/>
          </p:nvPr>
        </p:nvSpPr>
        <p:spPr>
          <a:xfrm>
            <a:off x="291800" y="465200"/>
            <a:ext cx="5666400" cy="7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053" name="Google Shape;1053;p78"/>
          <p:cNvSpPr txBox="1">
            <a:spLocks noGrp="1"/>
          </p:cNvSpPr>
          <p:nvPr>
            <p:ph type="subTitle" idx="1"/>
          </p:nvPr>
        </p:nvSpPr>
        <p:spPr>
          <a:xfrm>
            <a:off x="548640" y="3864575"/>
            <a:ext cx="2908800" cy="30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Cheryl Yan</a:t>
            </a:r>
          </a:p>
        </p:txBody>
      </p:sp>
      <p:sp>
        <p:nvSpPr>
          <p:cNvPr id="1054" name="Google Shape;1054;p78"/>
          <p:cNvSpPr txBox="1">
            <a:spLocks noGrp="1"/>
          </p:cNvSpPr>
          <p:nvPr>
            <p:ph type="subTitle" idx="3"/>
          </p:nvPr>
        </p:nvSpPr>
        <p:spPr>
          <a:xfrm>
            <a:off x="548640" y="4185969"/>
            <a:ext cx="2908800" cy="30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KWF · Jacamar · AED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1761</Words>
  <Application>Microsoft Macintosh PowerPoint</Application>
  <PresentationFormat>On-screen Show (16:9)</PresentationFormat>
  <Paragraphs>277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Courier New</vt:lpstr>
      <vt:lpstr>Instrument Sans SemiBold</vt:lpstr>
      <vt:lpstr>Instrument Sans Medium</vt:lpstr>
      <vt:lpstr>Instrument Sans</vt:lpstr>
      <vt:lpstr>Arial</vt:lpstr>
      <vt:lpstr>Pastel gradients</vt:lpstr>
      <vt:lpstr>AED validation results</vt:lpstr>
      <vt:lpstr>PASS: AED is correctly built, packaged and integrated, on KWF field audio. It is a meaningful-audio gate, not a human detector.</vt:lpstr>
      <vt:lpstr>Scope: two ways in, all on field audio</vt:lpstr>
      <vt:lpstr>Task 1: the model and service</vt:lpstr>
      <vt:lpstr>Task 2: correct model, matching preprocessing</vt:lpstr>
      <vt:lpstr>Task 3: the API contract holds</vt:lpstr>
      <vt:lpstr>Task 4: held-out KWF field clips</vt:lpstr>
      <vt:lpstr>Task 5: through the deployed Digital Twin</vt:lpstr>
      <vt:lpstr>Chance Hits vs Background</vt:lpstr>
      <vt:lpstr>Task 6: issues found, none blocking</vt:lpstr>
      <vt:lpstr>Final validation result: PASS</vt:lpstr>
      <vt:lpstr>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Cheryl Yan</cp:lastModifiedBy>
  <cp:revision>1</cp:revision>
  <dcterms:modified xsi:type="dcterms:W3CDTF">2026-10-16T15:50:47Z</dcterms:modified>
</cp:coreProperties>
</file>